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3"/>
    <p:sldId id="16140622" r:id="rId4"/>
    <p:sldId id="262" r:id="rId5"/>
    <p:sldId id="263" r:id="rId6"/>
    <p:sldId id="265" r:id="rId7"/>
    <p:sldId id="266" r:id="rId8"/>
    <p:sldId id="267" r:id="rId9"/>
    <p:sldId id="16140627" r:id="rId10"/>
    <p:sldId id="268" r:id="rId11"/>
    <p:sldId id="16140623" r:id="rId12"/>
    <p:sldId id="269" r:id="rId13"/>
    <p:sldId id="16140626"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8" name="Date Placeholder 7"/>
          <p:cNvSpPr>
            <a:spLocks noGrp="1"/>
          </p:cNvSpPr>
          <p:nvPr>
            <p:ph type="dt" sz="half" idx="10"/>
          </p:nvPr>
        </p:nvSpPr>
        <p:spPr/>
        <p:txBody>
          <a:bodyPr/>
          <a:lstStyle/>
          <a:p>
            <a:fld id="{ED291B17-9318-49DB-B28B-6E5994AE9581}"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endParaRPr lang="en-US"/>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Date Placeholder 7"/>
          <p:cNvSpPr>
            <a:spLocks noGrp="1"/>
          </p:cNvSpPr>
          <p:nvPr>
            <p:ph type="dt" sz="half" idx="10"/>
          </p:nvPr>
        </p:nvSpPr>
        <p:spPr/>
        <p:txBody>
          <a:bodyPr/>
          <a:lstStyle/>
          <a:p>
            <a:fld id="{78DD82B9-B8EE-4375-B6FF-88FA6ABB15D9}" type="datetime1">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2497495-0637-405E-AE64-5CC7506D51F5}"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endParaRPr lang="en-US"/>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BFFD690-9426-415D-8B65-26881E07B2D4}"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a:t>Click to edit Master text styles</a:t>
            </a:r>
            <a:endParaRPr lang="en-US"/>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04C4989A-474C-40DE-95B9-011C28B71673}" type="datetime1">
              <a:rPr lang="en-US" smtClean="0"/>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DB4ED54-5B5E-4A04-93D3-5772E3CE3818}" type="datetime1">
              <a:rPr lang="en-US" smtClean="0"/>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fld>
            <a:endParaRPr lang="en-US"/>
          </a:p>
        </p:txBody>
      </p:sp>
      <p:sp>
        <p:nvSpPr>
          <p:cNvPr id="10" name="Footer Placeholder 9"/>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E18DB4A-8810-4A10-AD5C-D5E2C667F5B3}"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CED4963-E985-44C4-B8C4-FDD613B7C2F8}" type="datetime1">
              <a:rPr lang="en-US" smtClean="0"/>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Rectangle 7"/>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p:cNvSpPr>
            <a:spLocks noGrp="1"/>
          </p:cNvSpPr>
          <p:nvPr>
            <p:ph type="dt" sz="half" idx="10"/>
          </p:nvPr>
        </p:nvSpPr>
        <p:spPr/>
        <p:txBody>
          <a:bodyPr/>
          <a:lstStyle/>
          <a:p>
            <a:fld id="{ED291B17-9318-49DB-B28B-6E5994AE9581}" type="datetime1">
              <a:rPr lang="en-US" smtClean="0"/>
            </a:fld>
            <a:endParaRPr lang="en-US"/>
          </a:p>
        </p:txBody>
      </p:sp>
      <p:sp>
        <p:nvSpPr>
          <p:cNvPr id="12" name="Footer Placeholder 11"/>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p:cNvPicPr>
            <a:picLocks noChangeAspect="1"/>
          </p:cNvPicPr>
          <p:nvPr userDrawn="1"/>
        </p:nvPicPr>
        <p:blipFill>
          <a:blip r:embed="rId12"/>
          <a:stretch>
            <a:fillRect/>
          </a:stretch>
        </p:blipFill>
        <p:spPr>
          <a:xfrm>
            <a:off x="10485003" y="6437910"/>
            <a:ext cx="1125805" cy="3651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huggingface.c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9108" y="1821635"/>
            <a:ext cx="9144000" cy="977778"/>
          </a:xfrm>
        </p:spPr>
        <p:txBody>
          <a:bodyPr/>
          <a:lstStyle/>
          <a:p>
            <a:pPr algn="ctr"/>
            <a:r>
              <a:rPr lang="en-US" altLang="en-US" b="1" dirty="0">
                <a:solidFill>
                  <a:schemeClr val="accent1"/>
                </a:solidFill>
                <a:latin typeface="Arial" panose="020B0604020202020204" pitchFamily="34" charset="0"/>
                <a:cs typeface="Arial" panose="020B0604020202020204" pitchFamily="34" charset="0"/>
              </a:rPr>
              <a:t>AI-Powered Study Buddy</a:t>
            </a:r>
            <a:endParaRPr lang="en-US" alt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panose="020B0604020202020204"/>
                <a:cs typeface="Arial" panose="020B0604020202020204"/>
              </a:rPr>
              <a:t>CAPSTONE PROJECT</a:t>
            </a:r>
            <a:endParaRPr lang="en-US" sz="3200" b="1">
              <a:solidFill>
                <a:schemeClr val="accent1">
                  <a:lumMod val="75000"/>
                </a:schemeClr>
              </a:solidFill>
              <a:latin typeface="Arial" panose="020B0604020202020204"/>
              <a:cs typeface="Arial" panose="020B0604020202020204"/>
            </a:endParaRPr>
          </a:p>
        </p:txBody>
      </p:sp>
      <p:sp>
        <p:nvSpPr>
          <p:cNvPr id="4" name="TextBox 3"/>
          <p:cNvSpPr txBox="1"/>
          <p:nvPr/>
        </p:nvSpPr>
        <p:spPr>
          <a:xfrm>
            <a:off x="3202196" y="4058588"/>
            <a:ext cx="7980183" cy="1630045"/>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anose="020B0604020202020204" pitchFamily="34" charset="0"/>
                <a:cs typeface="Arial" panose="020B0604020202020204" pitchFamily="34" charset="0"/>
              </a:rPr>
              <a:t>Presented By:</a:t>
            </a:r>
            <a:endParaRPr lang="en-US" sz="2000" b="1" dirty="0">
              <a:solidFill>
                <a:schemeClr val="accent1">
                  <a:lumMod val="75000"/>
                </a:schemeClr>
              </a:solidFill>
              <a:latin typeface="Arial" panose="020B0604020202020204" pitchFamily="34" charset="0"/>
              <a:cs typeface="Arial" panose="020B0604020202020204" pitchFamily="34" charset="0"/>
            </a:endParaRPr>
          </a:p>
          <a:p>
            <a:pPr marL="457200" indent="-457200">
              <a:buAutoNum type="arabicPeriod"/>
            </a:pPr>
            <a:r>
              <a:rPr lang="en-US" sz="2000" b="1" dirty="0">
                <a:solidFill>
                  <a:schemeClr val="accent1">
                    <a:lumMod val="75000"/>
                  </a:schemeClr>
                </a:solidFill>
                <a:latin typeface="Arial" panose="020B0604020202020204"/>
                <a:cs typeface="Arial" panose="020B0604020202020204"/>
              </a:rPr>
              <a:t>Student Name-  Jasmeet Kaur</a:t>
            </a:r>
            <a:endParaRPr lang="en-US" altLang="en-US" sz="2000" b="1" dirty="0">
              <a:solidFill>
                <a:schemeClr val="accent1">
                  <a:lumMod val="75000"/>
                </a:schemeClr>
              </a:solidFill>
              <a:latin typeface="Arial" panose="020B0604020202020204"/>
              <a:cs typeface="Arial" panose="020B0604020202020204"/>
            </a:endParaRPr>
          </a:p>
          <a:p>
            <a:pPr marL="457200" indent="-457200">
              <a:buAutoNum type="arabicPeriod"/>
            </a:pPr>
            <a:r>
              <a:rPr lang="en-US" sz="2000" b="1" dirty="0">
                <a:solidFill>
                  <a:schemeClr val="accent1">
                    <a:lumMod val="75000"/>
                  </a:schemeClr>
                </a:solidFill>
                <a:latin typeface="Arial" panose="020B0604020202020204"/>
                <a:cs typeface="Arial" panose="020B0604020202020204"/>
              </a:rPr>
              <a:t>College Name-  Kalinga Institute Of Industrial Technology</a:t>
            </a:r>
            <a:endParaRPr lang="en-US" sz="2000" b="1" dirty="0">
              <a:solidFill>
                <a:schemeClr val="accent1">
                  <a:lumMod val="75000"/>
                </a:schemeClr>
              </a:solidFill>
              <a:latin typeface="Arial" panose="020B0604020202020204"/>
              <a:cs typeface="Arial" panose="020B0604020202020204"/>
            </a:endParaRPr>
          </a:p>
          <a:p>
            <a:pPr marL="457200" indent="-457200">
              <a:buAutoNum type="arabicPeriod"/>
            </a:pPr>
            <a:r>
              <a:rPr lang="en-US" sz="2000" b="1" dirty="0">
                <a:solidFill>
                  <a:schemeClr val="accent1">
                    <a:lumMod val="75000"/>
                  </a:schemeClr>
                </a:solidFill>
                <a:latin typeface="Arial" panose="020B0604020202020204"/>
                <a:cs typeface="Arial" panose="020B0604020202020204"/>
              </a:rPr>
              <a:t>Department- CSE</a:t>
            </a:r>
            <a:endParaRPr lang="en-US" sz="2000" b="1" dirty="0">
              <a:solidFill>
                <a:schemeClr val="accent1">
                  <a:lumMod val="75000"/>
                </a:schemeClr>
              </a:solidFill>
              <a:latin typeface="Arial" panose="020B0604020202020204"/>
              <a:cs typeface="Arial" panose="020B0604020202020204"/>
            </a:endParaRPr>
          </a:p>
          <a:p>
            <a:pPr marL="457200" indent="-457200">
              <a:buAutoNum type="arabicPeriod"/>
            </a:pPr>
            <a:r>
              <a:rPr lang="en-US" sz="2000" b="1" dirty="0">
                <a:solidFill>
                  <a:schemeClr val="accent1">
                    <a:lumMod val="75000"/>
                  </a:schemeClr>
                </a:solidFill>
                <a:latin typeface="Arial" panose="020B0604020202020204"/>
                <a:cs typeface="Arial" panose="020B0604020202020204"/>
              </a:rPr>
              <a:t>AICTE ID- </a:t>
            </a:r>
            <a:r>
              <a:rPr lang="en-US" altLang="en-US" sz="2000" b="1" dirty="0">
                <a:solidFill>
                  <a:schemeClr val="accent1">
                    <a:lumMod val="75000"/>
                  </a:schemeClr>
                </a:solidFill>
                <a:latin typeface="Arial" panose="020B0604020202020204"/>
                <a:cs typeface="Arial" panose="020B0604020202020204"/>
              </a:rPr>
              <a:t>STU69e78ab4edf191776782004</a:t>
            </a:r>
            <a:endParaRPr lang="en-US" altLang="en-US" sz="2000" b="1" dirty="0">
              <a:solidFill>
                <a:schemeClr val="accent1">
                  <a:lumMod val="75000"/>
                </a:schemeClr>
              </a:solidFill>
              <a:latin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endParaRPr lang="en-US" b="1">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panose="020B0604020202020204"/>
                <a:ea typeface="+mn-lt"/>
                <a:cs typeface="Arial" panose="020B0604020202020204"/>
              </a:rPr>
              <a:t>  </a:t>
            </a:r>
            <a:endParaRPr lang="en-US" dirty="0">
              <a:latin typeface="Arial" panose="020B0604020202020204"/>
              <a:cs typeface="Arial" panose="020B0604020202020204"/>
            </a:endParaRPr>
          </a:p>
          <a:p>
            <a:r>
              <a:rPr lang="en-US" sz="2000" b="1" dirty="0">
                <a:latin typeface="Arial" panose="020B0604020202020204"/>
                <a:ea typeface="+mn-lt"/>
                <a:cs typeface="Arial" panose="020B0604020202020204"/>
              </a:rPr>
              <a:t>Problem Statement </a:t>
            </a:r>
            <a:r>
              <a:rPr lang="en-US" sz="2000" dirty="0">
                <a:latin typeface="Arial" panose="020B0604020202020204"/>
                <a:ea typeface="+mn-lt"/>
                <a:cs typeface="Arial" panose="020B0604020202020204"/>
              </a:rPr>
              <a:t>(Should not include solution)</a:t>
            </a:r>
            <a:endParaRPr lang="en-US" dirty="0">
              <a:latin typeface="Arial" panose="020B0604020202020204"/>
              <a:cs typeface="Arial" panose="020B0604020202020204"/>
            </a:endParaRPr>
          </a:p>
          <a:p>
            <a:r>
              <a:rPr lang="en-US" sz="2000" b="1" dirty="0">
                <a:latin typeface="Arial" panose="020B0604020202020204"/>
                <a:ea typeface="+mn-lt"/>
                <a:cs typeface="Arial" panose="020B0604020202020204"/>
              </a:rPr>
              <a:t>Proposed System/Solution</a:t>
            </a:r>
            <a:endParaRPr lang="en-US" dirty="0">
              <a:latin typeface="Arial" panose="020B0604020202020204"/>
              <a:cs typeface="Arial" panose="020B0604020202020204"/>
            </a:endParaRPr>
          </a:p>
          <a:p>
            <a:r>
              <a:rPr lang="en-US" sz="2000" b="1" dirty="0">
                <a:latin typeface="Arial" panose="020B0604020202020204"/>
                <a:ea typeface="+mn-lt"/>
                <a:cs typeface="Calibri" panose="020F0502020204030204"/>
              </a:rPr>
              <a:t>System </a:t>
            </a:r>
            <a:r>
              <a:rPr lang="en-US" sz="2000" b="1" dirty="0">
                <a:latin typeface="Arial" panose="020B0604020202020204"/>
                <a:ea typeface="+mn-lt"/>
                <a:cs typeface="+mn-lt"/>
              </a:rPr>
              <a:t>Development Approach </a:t>
            </a:r>
            <a:r>
              <a:rPr lang="en-US" sz="2000" dirty="0">
                <a:latin typeface="Arial" panose="020B0604020202020204"/>
                <a:ea typeface="+mn-lt"/>
                <a:cs typeface="+mn-lt"/>
              </a:rPr>
              <a:t>(Technology Used) </a:t>
            </a:r>
            <a:endParaRPr lang="en-US" dirty="0">
              <a:latin typeface="Arial" panose="020B0604020202020204"/>
              <a:ea typeface="+mn-lt"/>
              <a:cs typeface="+mn-lt"/>
            </a:endParaRPr>
          </a:p>
          <a:p>
            <a:r>
              <a:rPr lang="en-US" sz="2000" b="1" dirty="0">
                <a:latin typeface="Arial" panose="020B0604020202020204"/>
                <a:ea typeface="+mn-lt"/>
                <a:cs typeface="+mn-lt"/>
              </a:rPr>
              <a:t>Algorithm &amp; Deployment  </a:t>
            </a:r>
            <a:endParaRPr lang="en-US" dirty="0">
              <a:latin typeface="Arial" panose="020B0604020202020204"/>
              <a:cs typeface="Calibri" panose="020F0502020204030204"/>
            </a:endParaRPr>
          </a:p>
          <a:p>
            <a:r>
              <a:rPr lang="en-US" sz="2000" b="1" dirty="0">
                <a:latin typeface="Arial" panose="020B0604020202020204"/>
                <a:ea typeface="+mn-lt"/>
                <a:cs typeface="Arial" panose="020B0604020202020204"/>
              </a:rPr>
              <a:t>Result</a:t>
            </a:r>
            <a:endParaRPr lang="en-US" sz="2000" b="1" dirty="0">
              <a:latin typeface="Arial" panose="020B0604020202020204"/>
              <a:ea typeface="+mn-lt"/>
              <a:cs typeface="Arial" panose="020B0604020202020204"/>
            </a:endParaRPr>
          </a:p>
          <a:p>
            <a:r>
              <a:rPr lang="en-US" sz="2000" b="1" dirty="0">
                <a:latin typeface="Arial" panose="020B0604020202020204"/>
                <a:ea typeface="+mn-lt"/>
                <a:cs typeface="Arial" panose="020B0604020202020204"/>
              </a:rPr>
              <a:t>Conclusion</a:t>
            </a:r>
            <a:endParaRPr lang="en-US" dirty="0">
              <a:latin typeface="Arial" panose="020B0604020202020204"/>
              <a:cs typeface="Arial" panose="020B0604020202020204"/>
            </a:endParaRPr>
          </a:p>
          <a:p>
            <a:r>
              <a:rPr lang="en-US" sz="2000" b="1" dirty="0">
                <a:latin typeface="Arial" panose="020B0604020202020204"/>
                <a:ea typeface="+mn-lt"/>
                <a:cs typeface="Arial" panose="020B0604020202020204"/>
              </a:rPr>
              <a:t>Future Scope</a:t>
            </a:r>
            <a:endParaRPr lang="en-US" sz="2000" b="1" dirty="0">
              <a:latin typeface="Arial" panose="020B0604020202020204"/>
              <a:ea typeface="+mn-lt"/>
              <a:cs typeface="Arial" panose="020B0604020202020204"/>
            </a:endParaRPr>
          </a:p>
          <a:p>
            <a:r>
              <a:rPr lang="en-US" sz="2000" b="1" dirty="0">
                <a:latin typeface="Arial" panose="020B0604020202020204"/>
                <a:ea typeface="+mn-lt"/>
                <a:cs typeface="Arial" panose="020B0604020202020204"/>
              </a:rPr>
              <a:t>References</a:t>
            </a:r>
            <a:endParaRPr lang="en-US" dirty="0">
              <a:latin typeface="Arial" panose="020B0604020202020204"/>
              <a:cs typeface="Arial" panose="020B0604020202020204"/>
            </a:endParaRPr>
          </a:p>
          <a:p>
            <a:endParaRPr lang="en-US" dirty="0">
              <a:latin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4" name="Text Box 3"/>
          <p:cNvSpPr txBox="1"/>
          <p:nvPr/>
        </p:nvSpPr>
        <p:spPr>
          <a:xfrm>
            <a:off x="516890" y="1233170"/>
            <a:ext cx="11219815" cy="5202555"/>
          </a:xfrm>
          <a:prstGeom prst="rect">
            <a:avLst/>
          </a:prstGeom>
          <a:noFill/>
        </p:spPr>
        <p:txBody>
          <a:bodyPr wrap="square" rtlCol="0">
            <a:noAutofit/>
          </a:bodyPr>
          <a:p>
            <a:r>
              <a:rPr lang="en-US" altLang="en-US"/>
              <a:t>Students often struggle to understand complex concepts while studying independently. Searching online gives long or irrelevant results and teachers are not always available to resolve doubts instantly. The problem consists of the following challenges:</a:t>
            </a:r>
            <a:endParaRPr lang="en-US" altLang="en-US"/>
          </a:p>
          <a:p>
            <a:endParaRPr lang="en-US" altLang="en-US"/>
          </a:p>
          <a:p>
            <a:r>
              <a:rPr lang="en-US" altLang="en-US"/>
              <a:t>■ Difficulty in Understanding Topics:</a:t>
            </a:r>
            <a:endParaRPr lang="en-US" altLang="en-US"/>
          </a:p>
          <a:p>
            <a:r>
              <a:rPr lang="en-US" altLang="en-US"/>
              <a:t>      ■ Students cannot grasp complex concepts without proper explanation or guidance</a:t>
            </a:r>
            <a:endParaRPr lang="en-US" altLang="en-US"/>
          </a:p>
          <a:p>
            <a:r>
              <a:rPr lang="en-US" altLang="en-US"/>
              <a:t>      ■ Online resources provide lengthy content that is hard to understand at student level</a:t>
            </a:r>
            <a:endParaRPr lang="en-US" altLang="en-US"/>
          </a:p>
          <a:p>
            <a:r>
              <a:rPr lang="en-US" altLang="en-US"/>
              <a:t>■ Lack of Personalized Study Tools:</a:t>
            </a:r>
            <a:endParaRPr lang="en-US" altLang="en-US"/>
          </a:p>
          <a:p>
            <a:r>
              <a:rPr lang="en-US" altLang="en-US"/>
              <a:t>      ■ No free tool exists that explains topics according to student's own learning level</a:t>
            </a:r>
            <a:endParaRPr lang="en-US" altLang="en-US"/>
          </a:p>
          <a:p>
            <a:r>
              <a:rPr lang="en-US" altLang="en-US"/>
              <a:t>      ■ Generic study apps do not adapt to individual student needs or syllabus</a:t>
            </a:r>
            <a:endParaRPr lang="en-US" altLang="en-US"/>
          </a:p>
          <a:p>
            <a:r>
              <a:rPr lang="en-US" altLang="en-US"/>
              <a:t>■ Manual Note-Making is Time Consuming:</a:t>
            </a:r>
            <a:endParaRPr lang="en-US" altLang="en-US"/>
          </a:p>
          <a:p>
            <a:r>
              <a:rPr lang="en-US" altLang="en-US"/>
              <a:t>      ■ Students spend hours writing summaries and notes from lengthy textbook chapters</a:t>
            </a:r>
            <a:endParaRPr lang="en-US" altLang="en-US"/>
          </a:p>
          <a:p>
            <a:r>
              <a:rPr lang="en-US" altLang="en-US"/>
              <a:t>      ■ There is no automated way to convert lecture notes into concise revision material</a:t>
            </a:r>
            <a:endParaRPr lang="en-US" altLang="en-US"/>
          </a:p>
          <a:p>
            <a:r>
              <a:rPr lang="en-US" altLang="en-US"/>
              <a:t>■ No Self-Assessment Tool Available:</a:t>
            </a:r>
            <a:endParaRPr lang="en-US" altLang="en-US"/>
          </a:p>
          <a:p>
            <a:r>
              <a:rPr lang="en-US" altLang="en-US"/>
              <a:t>      ■ Students have no easy way to test their knowledge on specific topics instantly</a:t>
            </a:r>
            <a:endParaRPr lang="en-US" altLang="en-US"/>
          </a:p>
          <a:p>
            <a:r>
              <a:rPr lang="en-US" altLang="en-US"/>
              <a:t>      ■ Creating practice MCQ questions manually is difficult and time consuming</a:t>
            </a:r>
            <a:endParaRPr lang="en-US" altLang="en-US"/>
          </a:p>
          <a:p>
            <a:r>
              <a:rPr lang="en-US" altLang="en-US"/>
              <a:t>■ Lack of Quick Revision Material:</a:t>
            </a:r>
            <a:endParaRPr lang="en-US" altLang="en-US"/>
          </a:p>
          <a:p>
            <a:r>
              <a:rPr lang="en-US" altLang="en-US"/>
              <a:t>      ■ Students struggle to find or create flashcards for last-minute exam preparation</a:t>
            </a:r>
            <a:endParaRPr lang="en-US" altLang="en-US"/>
          </a:p>
          <a:p>
            <a:r>
              <a:rPr lang="en-US" altLang="en-US"/>
              <a:t>      ■ No tool generates ready-made Q&amp;A revision cards automatically on demand</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3" name="Text Box 2"/>
          <p:cNvSpPr txBox="1"/>
          <p:nvPr/>
        </p:nvSpPr>
        <p:spPr>
          <a:xfrm>
            <a:off x="441325" y="1232535"/>
            <a:ext cx="11304905" cy="5125720"/>
          </a:xfrm>
          <a:prstGeom prst="rect">
            <a:avLst/>
          </a:prstGeom>
          <a:noFill/>
        </p:spPr>
        <p:txBody>
          <a:bodyPr wrap="square" rtlCol="0">
            <a:noAutofit/>
          </a:bodyPr>
          <a:p>
            <a:r>
              <a:rPr lang="en-US" altLang="en-US"/>
              <a:t>The proposed system "AI Study Buddy" aims to address the challenge of helping students learn independently using Generative AI. The solution will consist of the following components:</a:t>
            </a:r>
            <a:endParaRPr lang="en-US" altLang="en-US"/>
          </a:p>
          <a:p>
            <a:endParaRPr lang="en-US" altLang="en-US"/>
          </a:p>
          <a:p>
            <a:r>
              <a:rPr lang="en-US" altLang="en-US"/>
              <a:t>■ Explain Topic:</a:t>
            </a:r>
            <a:endParaRPr lang="en-US" altLang="en-US"/>
          </a:p>
          <a:p>
            <a:r>
              <a:rPr lang="en-US" altLang="en-US"/>
              <a:t>      ■ Accepts any topic as input and explains it at Beginner, Class 10-12 or College level</a:t>
            </a:r>
            <a:endParaRPr lang="en-US" altLang="en-US"/>
          </a:p>
          <a:p>
            <a:r>
              <a:rPr lang="en-US" altLang="en-US"/>
              <a:t>      ■ Provides simple definition, analogy, key points and a real-life example</a:t>
            </a:r>
            <a:endParaRPr lang="en-US" altLang="en-US"/>
          </a:p>
          <a:p>
            <a:r>
              <a:rPr lang="en-US" altLang="en-US"/>
              <a:t>■ Summarize Notes:</a:t>
            </a:r>
            <a:endParaRPr lang="en-US" altLang="en-US"/>
          </a:p>
          <a:p>
            <a:r>
              <a:rPr lang="en-US" altLang="en-US"/>
              <a:t>      ■ Accepts pasted study notes and converts them into concise bullet points or paragraphs</a:t>
            </a:r>
            <a:endParaRPr lang="en-US" altLang="en-US"/>
          </a:p>
          <a:p>
            <a:r>
              <a:rPr lang="en-US" altLang="en-US"/>
              <a:t>      ■ Helps students revise faster without reading lengthy textbook content</a:t>
            </a:r>
            <a:endParaRPr lang="en-US" altLang="en-US"/>
          </a:p>
          <a:p>
            <a:r>
              <a:rPr lang="en-US" altLang="en-US"/>
              <a:t>■ Generate Quiz:</a:t>
            </a:r>
            <a:endParaRPr lang="en-US" altLang="en-US"/>
          </a:p>
          <a:p>
            <a:r>
              <a:rPr lang="en-US" altLang="en-US"/>
              <a:t>      ■ Generates 5 MCQ questions with correct answers and explanations on any topic</a:t>
            </a:r>
            <a:endParaRPr lang="en-US" altLang="en-US"/>
          </a:p>
          <a:p>
            <a:r>
              <a:rPr lang="en-US" altLang="en-US"/>
              <a:t>      ■ Supports Easy, Medium and Hard difficulty levels for self-assessment</a:t>
            </a:r>
            <a:endParaRPr lang="en-US" altLang="en-US"/>
          </a:p>
          <a:p>
            <a:r>
              <a:rPr lang="en-US" altLang="en-US"/>
              <a:t>■ Flashcards:</a:t>
            </a:r>
            <a:endParaRPr lang="en-US" altLang="en-US"/>
          </a:p>
          <a:p>
            <a:r>
              <a:rPr lang="en-US" altLang="en-US"/>
              <a:t>      ■ Creates Q&amp;A format revision cards on any subject automatically</a:t>
            </a:r>
            <a:endParaRPr lang="en-US" altLang="en-US"/>
          </a:p>
          <a:p>
            <a:r>
              <a:rPr lang="en-US" altLang="en-US"/>
              <a:t>      ■ Helps students memorize key concepts quickly before exams</a:t>
            </a:r>
            <a:endParaRPr lang="en-US" altLang="en-US"/>
          </a:p>
          <a:p>
            <a:r>
              <a:rPr lang="en-US" altLang="en-US"/>
              <a:t>■ Deployment:</a:t>
            </a:r>
            <a:endParaRPr lang="en-US" altLang="en-US"/>
          </a:p>
          <a:p>
            <a:r>
              <a:rPr lang="en-US" altLang="en-US"/>
              <a:t>      ■ Built using Python and Streamlit framework for a clean web interface</a:t>
            </a:r>
            <a:endParaRPr lang="en-US" altLang="en-US"/>
          </a:p>
          <a:p>
            <a:r>
              <a:rPr lang="en-US" altLang="en-US"/>
              <a:t>      ■ Powered by LLaMA 3.1 model via Groq API and deployed on Streamlit Cloud</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panose="020B0604020202020204"/>
                <a:ea typeface="+mj-lt"/>
                <a:cs typeface="Arial" panose="020B0604020202020204"/>
              </a:rPr>
              <a:t>System  Approach</a:t>
            </a:r>
            <a:endParaRPr lang="en-US" sz="4400">
              <a:solidFill>
                <a:schemeClr val="accent1"/>
              </a:solidFill>
              <a:latin typeface="Calibri Light" panose="020F0302020204030204"/>
              <a:cs typeface="Calibri Light" panose="020F0302020204030204"/>
            </a:endParaRPr>
          </a:p>
        </p:txBody>
      </p:sp>
      <p:sp>
        <p:nvSpPr>
          <p:cNvPr id="2" name="Text Box 1"/>
          <p:cNvSpPr txBox="1"/>
          <p:nvPr/>
        </p:nvSpPr>
        <p:spPr>
          <a:xfrm>
            <a:off x="478155" y="1282700"/>
            <a:ext cx="11249660" cy="5695950"/>
          </a:xfrm>
          <a:prstGeom prst="rect">
            <a:avLst/>
          </a:prstGeom>
          <a:noFill/>
        </p:spPr>
        <p:txBody>
          <a:bodyPr wrap="square" rtlCol="0">
            <a:noAutofit/>
          </a:bodyPr>
          <a:p>
            <a:r>
              <a:rPr lang="en-US" altLang="en-US"/>
              <a:t>The System Approach outlines the technology and methodology used to build the AI Study Buddy application:</a:t>
            </a:r>
            <a:endParaRPr lang="en-US" altLang="en-US"/>
          </a:p>
          <a:p>
            <a:r>
              <a:rPr lang="en-US" altLang="en-US"/>
              <a:t>■ System Requirements:</a:t>
            </a:r>
            <a:endParaRPr lang="en-US" altLang="en-US"/>
          </a:p>
          <a:p>
            <a:r>
              <a:rPr lang="en-US" altLang="en-US"/>
              <a:t>      ■ Python 3.12 — Core programming language</a:t>
            </a:r>
            <a:endParaRPr lang="en-US" altLang="en-US"/>
          </a:p>
          <a:p>
            <a:r>
              <a:rPr lang="en-US" altLang="en-US"/>
              <a:t>      ■ Streamlit — Web framework for building the UI</a:t>
            </a:r>
            <a:endParaRPr lang="en-US" altLang="en-US"/>
          </a:p>
          <a:p>
            <a:r>
              <a:rPr lang="en-US" altLang="en-US"/>
              <a:t>      ■ Groq API — Fast AI inference platform</a:t>
            </a:r>
            <a:endParaRPr lang="en-US" altLang="en-US"/>
          </a:p>
          <a:p>
            <a:r>
              <a:rPr lang="en-US" altLang="en-US"/>
              <a:t>      ■ Google Colab — Development and testing environment</a:t>
            </a:r>
            <a:endParaRPr lang="en-US" altLang="en-US"/>
          </a:p>
          <a:p>
            <a:r>
              <a:rPr lang="en-US" altLang="en-US"/>
              <a:t>■ Libraries Used:</a:t>
            </a:r>
            <a:endParaRPr lang="en-US" altLang="en-US"/>
          </a:p>
          <a:p>
            <a:r>
              <a:rPr lang="en-US" altLang="en-US"/>
              <a:t>      ■ streamlit — Interactive web application</a:t>
            </a:r>
            <a:endParaRPr lang="en-US" altLang="en-US"/>
          </a:p>
          <a:p>
            <a:r>
              <a:rPr lang="en-US" altLang="en-US"/>
              <a:t>      ■ groq — Connect with Groq API and LLaMA model</a:t>
            </a:r>
            <a:endParaRPr lang="en-US" altLang="en-US"/>
          </a:p>
          <a:p>
            <a:r>
              <a:rPr lang="en-US" altLang="en-US"/>
              <a:t>■ AI Model:</a:t>
            </a:r>
            <a:endParaRPr lang="en-US" altLang="en-US"/>
          </a:p>
          <a:p>
            <a:r>
              <a:rPr lang="en-US" altLang="en-US"/>
              <a:t>      ■ LLaMA 3.1 (8B Instant) by Meta AI via Groq API</a:t>
            </a:r>
            <a:endParaRPr lang="en-US" altLang="en-US"/>
          </a:p>
          <a:p>
            <a:r>
              <a:rPr lang="en-US" altLang="en-US"/>
              <a:t>      ■ Used for explaining topics, summarizing, quiz and flashcard generation</a:t>
            </a:r>
            <a:endParaRPr lang="en-US" altLang="en-US"/>
          </a:p>
          <a:p>
            <a:r>
              <a:rPr lang="en-US" altLang="en-US"/>
              <a:t>■ System Architecture:</a:t>
            </a:r>
            <a:endParaRPr lang="en-US" altLang="en-US"/>
          </a:p>
          <a:p>
            <a:r>
              <a:rPr lang="en-US" altLang="en-US"/>
              <a:t>      ■ User Input → Streamlit UI → Groq API → LLaMA 3.1 → Response displayed to User</a:t>
            </a:r>
            <a:endParaRPr lang="en-US" altLang="en-US"/>
          </a:p>
          <a:p>
            <a:r>
              <a:rPr lang="en-US" altLang="en-US"/>
              <a:t>■ Deployment:</a:t>
            </a:r>
            <a:endParaRPr lang="en-US" altLang="en-US"/>
          </a:p>
          <a:p>
            <a:r>
              <a:rPr lang="en-US" altLang="en-US"/>
              <a:t>      ■ Code hosted on GitHub</a:t>
            </a:r>
            <a:endParaRPr lang="en-US" altLang="en-US"/>
          </a:p>
          <a:p>
            <a:r>
              <a:rPr lang="en-US" altLang="en-US"/>
              <a:t>      ■ App deployed live on Streamlit Cloud</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Algorithm &amp; Deployment</a:t>
            </a:r>
            <a:endParaRPr lang="en-US"/>
          </a:p>
        </p:txBody>
      </p:sp>
      <p:sp>
        <p:nvSpPr>
          <p:cNvPr id="4" name="Text Box 3"/>
          <p:cNvSpPr txBox="1"/>
          <p:nvPr/>
        </p:nvSpPr>
        <p:spPr>
          <a:xfrm>
            <a:off x="468630" y="1339215"/>
            <a:ext cx="11268710" cy="4989195"/>
          </a:xfrm>
          <a:prstGeom prst="rect">
            <a:avLst/>
          </a:prstGeom>
          <a:noFill/>
        </p:spPr>
        <p:txBody>
          <a:bodyPr wrap="square" rtlCol="0">
            <a:noAutofit/>
          </a:bodyPr>
          <a:p>
            <a:r>
              <a:rPr lang="en-US" altLang="en-US"/>
              <a:t>The following algorithm and deployment approach was used to build and launch the AI Study Buddy application:</a:t>
            </a:r>
            <a:endParaRPr lang="en-US" altLang="en-US"/>
          </a:p>
          <a:p>
            <a:r>
              <a:rPr lang="en-US" altLang="en-US"/>
              <a:t>■ Algorithm Selection:</a:t>
            </a:r>
            <a:endParaRPr lang="en-US" altLang="en-US"/>
          </a:p>
          <a:p>
            <a:r>
              <a:rPr lang="en-US" altLang="en-US"/>
              <a:t>      ■ Generative AI approach using Large Language Model (LLaMA 3.1 8B Instant)</a:t>
            </a:r>
            <a:endParaRPr lang="en-US" altLang="en-US"/>
          </a:p>
          <a:p>
            <a:r>
              <a:rPr lang="en-US" altLang="en-US"/>
              <a:t>      ■ Prompt Engineering used to structure outputs for each feature</a:t>
            </a:r>
            <a:endParaRPr lang="en-US" altLang="en-US"/>
          </a:p>
          <a:p>
            <a:r>
              <a:rPr lang="en-US" altLang="en-US"/>
              <a:t>■ Input Processing:</a:t>
            </a:r>
            <a:endParaRPr lang="en-US" altLang="en-US"/>
          </a:p>
          <a:p>
            <a:r>
              <a:rPr lang="en-US" altLang="en-US"/>
              <a:t>      ■ User enters topic, notes or subject in the Streamlit web interface</a:t>
            </a:r>
            <a:endParaRPr lang="en-US" altLang="en-US"/>
          </a:p>
          <a:p>
            <a:r>
              <a:rPr lang="en-US" altLang="en-US"/>
              <a:t>      ■ Input is combined with a structured prompt and sent to Groq API</a:t>
            </a:r>
            <a:endParaRPr lang="en-US" altLang="en-US"/>
          </a:p>
          <a:p>
            <a:r>
              <a:rPr lang="en-US" altLang="en-US"/>
              <a:t>■ AI Processing:</a:t>
            </a:r>
            <a:endParaRPr lang="en-US" altLang="en-US"/>
          </a:p>
          <a:p>
            <a:r>
              <a:rPr lang="en-US" altLang="en-US"/>
              <a:t>      ■ Groq API receives the prompt and passes it to LLaMA 3.1 model</a:t>
            </a:r>
            <a:endParaRPr lang="en-US" altLang="en-US"/>
          </a:p>
          <a:p>
            <a:r>
              <a:rPr lang="en-US" altLang="en-US"/>
              <a:t>      ■ Model generates explanation, summary, quiz or flashcards as response</a:t>
            </a:r>
            <a:endParaRPr lang="en-US" altLang="en-US"/>
          </a:p>
          <a:p>
            <a:r>
              <a:rPr lang="en-US" altLang="en-US"/>
              <a:t>■ Output Display:</a:t>
            </a:r>
            <a:endParaRPr lang="en-US" altLang="en-US"/>
          </a:p>
          <a:p>
            <a:r>
              <a:rPr lang="en-US" altLang="en-US"/>
              <a:t>      ■ Response is received from API and displayed on screen using st.markdown()</a:t>
            </a:r>
            <a:endParaRPr lang="en-US" altLang="en-US"/>
          </a:p>
          <a:p>
            <a:r>
              <a:rPr lang="en-US" altLang="en-US"/>
              <a:t>      ■ Results are formatted as structured text with headings and bullet points</a:t>
            </a:r>
            <a:endParaRPr lang="en-US" altLang="en-US"/>
          </a:p>
          <a:p>
            <a:r>
              <a:rPr lang="en-US" altLang="en-US"/>
              <a:t>■ Deployment:</a:t>
            </a:r>
            <a:endParaRPr lang="en-US" altLang="en-US"/>
          </a:p>
          <a:p>
            <a:r>
              <a:rPr lang="en-US" altLang="en-US"/>
              <a:t>      ■ Source code pushed to GitHub repository (version control)</a:t>
            </a:r>
            <a:endParaRPr lang="en-US" altLang="en-US"/>
          </a:p>
          <a:p>
            <a:r>
              <a:rPr lang="en-US" altLang="en-US"/>
              <a:t>      ■ Application deployed on Streamlit Cloud — free and publicly accessible</a:t>
            </a:r>
            <a:endParaRPr lang="en-US" altLang="en-US"/>
          </a:p>
          <a:p>
            <a:r>
              <a:rPr lang="en-US" altLang="en-US"/>
              <a:t>      ■ Groq API key stored securely in Streamlit Secrets — no key needed from users</a:t>
            </a:r>
            <a:endParaRPr lang="en-US" altLang="en-US"/>
          </a:p>
          <a:p>
            <a:r>
              <a:rPr lang="en-US" altLang="en-US"/>
              <a:t>    </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Result</a:t>
            </a:r>
            <a:endParaRPr lang="en-US"/>
          </a:p>
        </p:txBody>
      </p:sp>
      <p:pic>
        <p:nvPicPr>
          <p:cNvPr id="2" name="Content Placeholder 1" descr="Screenshot 2026-06-14 151108"/>
          <p:cNvPicPr>
            <a:picLocks noChangeAspect="1"/>
          </p:cNvPicPr>
          <p:nvPr>
            <p:ph idx="1"/>
          </p:nvPr>
        </p:nvPicPr>
        <p:blipFill>
          <a:blip r:embed="rId1"/>
          <a:stretch>
            <a:fillRect/>
          </a:stretch>
        </p:blipFill>
        <p:spPr>
          <a:xfrm>
            <a:off x="278130" y="1153795"/>
            <a:ext cx="5548630" cy="2578100"/>
          </a:xfrm>
          <a:prstGeom prst="rect">
            <a:avLst/>
          </a:prstGeom>
          <a:noFill/>
          <a:ln>
            <a:noFill/>
          </a:ln>
          <a:effectLst/>
        </p:spPr>
      </p:pic>
      <p:pic>
        <p:nvPicPr>
          <p:cNvPr id="4" name="Picture 3" descr="Screenshot 2026-06-14 151125"/>
          <p:cNvPicPr>
            <a:picLocks noChangeAspect="1"/>
          </p:cNvPicPr>
          <p:nvPr/>
        </p:nvPicPr>
        <p:blipFill>
          <a:blip r:embed="rId2"/>
          <a:stretch>
            <a:fillRect/>
          </a:stretch>
        </p:blipFill>
        <p:spPr>
          <a:xfrm>
            <a:off x="5904230" y="1154430"/>
            <a:ext cx="6007735" cy="2577465"/>
          </a:xfrm>
          <a:prstGeom prst="rect">
            <a:avLst/>
          </a:prstGeom>
        </p:spPr>
      </p:pic>
      <p:pic>
        <p:nvPicPr>
          <p:cNvPr id="6" name="Picture 5" descr="Screenshot 2026-06-14 151357"/>
          <p:cNvPicPr>
            <a:picLocks noChangeAspect="1"/>
          </p:cNvPicPr>
          <p:nvPr/>
        </p:nvPicPr>
        <p:blipFill>
          <a:blip r:embed="rId3"/>
          <a:stretch>
            <a:fillRect/>
          </a:stretch>
        </p:blipFill>
        <p:spPr>
          <a:xfrm>
            <a:off x="277495" y="3808730"/>
            <a:ext cx="5549265" cy="2571115"/>
          </a:xfrm>
          <a:prstGeom prst="rect">
            <a:avLst/>
          </a:prstGeom>
        </p:spPr>
      </p:pic>
      <p:pic>
        <p:nvPicPr>
          <p:cNvPr id="7" name="Picture 6" descr="Screenshot 2026-06-14 151416"/>
          <p:cNvPicPr>
            <a:picLocks noChangeAspect="1"/>
          </p:cNvPicPr>
          <p:nvPr/>
        </p:nvPicPr>
        <p:blipFill>
          <a:blip r:embed="rId4"/>
          <a:stretch>
            <a:fillRect/>
          </a:stretch>
        </p:blipFill>
        <p:spPr>
          <a:xfrm>
            <a:off x="5904230" y="3808095"/>
            <a:ext cx="6008370" cy="25711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6-06-14 151506"/>
          <p:cNvPicPr>
            <a:picLocks noChangeAspect="1"/>
          </p:cNvPicPr>
          <p:nvPr>
            <p:ph idx="1"/>
          </p:nvPr>
        </p:nvPicPr>
        <p:blipFill>
          <a:blip r:embed="rId1"/>
          <a:stretch>
            <a:fillRect/>
          </a:stretch>
        </p:blipFill>
        <p:spPr>
          <a:xfrm>
            <a:off x="234950" y="804545"/>
            <a:ext cx="5794375" cy="2734945"/>
          </a:xfrm>
          <a:prstGeom prst="rect">
            <a:avLst/>
          </a:prstGeom>
        </p:spPr>
      </p:pic>
      <p:pic>
        <p:nvPicPr>
          <p:cNvPr id="5" name="Picture 4" descr="Screenshot 2026-06-14 151522"/>
          <p:cNvPicPr>
            <a:picLocks noChangeAspect="1"/>
          </p:cNvPicPr>
          <p:nvPr/>
        </p:nvPicPr>
        <p:blipFill>
          <a:blip r:embed="rId2"/>
          <a:stretch>
            <a:fillRect/>
          </a:stretch>
        </p:blipFill>
        <p:spPr>
          <a:xfrm>
            <a:off x="6096000" y="804545"/>
            <a:ext cx="5906770" cy="2734945"/>
          </a:xfrm>
          <a:prstGeom prst="rect">
            <a:avLst/>
          </a:prstGeom>
        </p:spPr>
      </p:pic>
      <p:pic>
        <p:nvPicPr>
          <p:cNvPr id="6" name="Picture 5" descr="Screenshot 2026-06-14 151624"/>
          <p:cNvPicPr>
            <a:picLocks noChangeAspect="1"/>
          </p:cNvPicPr>
          <p:nvPr/>
        </p:nvPicPr>
        <p:blipFill>
          <a:blip r:embed="rId3"/>
          <a:stretch>
            <a:fillRect/>
          </a:stretch>
        </p:blipFill>
        <p:spPr>
          <a:xfrm>
            <a:off x="234950" y="3656965"/>
            <a:ext cx="5794375" cy="2773045"/>
          </a:xfrm>
          <a:prstGeom prst="rect">
            <a:avLst/>
          </a:prstGeom>
        </p:spPr>
      </p:pic>
      <p:pic>
        <p:nvPicPr>
          <p:cNvPr id="7" name="Picture 6" descr="Screenshot 2026-06-14 151636"/>
          <p:cNvPicPr>
            <a:picLocks noChangeAspect="1"/>
          </p:cNvPicPr>
          <p:nvPr/>
        </p:nvPicPr>
        <p:blipFill>
          <a:blip r:embed="rId4"/>
          <a:stretch>
            <a:fillRect/>
          </a:stretch>
        </p:blipFill>
        <p:spPr>
          <a:xfrm>
            <a:off x="6096000" y="3656965"/>
            <a:ext cx="5906770" cy="27730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Conclusion</a:t>
            </a:r>
            <a:endParaRPr lang="en-US"/>
          </a:p>
        </p:txBody>
      </p:sp>
      <p:sp>
        <p:nvSpPr>
          <p:cNvPr id="3" name="Text Box 2"/>
          <p:cNvSpPr txBox="1"/>
          <p:nvPr/>
        </p:nvSpPr>
        <p:spPr>
          <a:xfrm>
            <a:off x="516890" y="1231900"/>
            <a:ext cx="11220450" cy="5001895"/>
          </a:xfrm>
          <a:prstGeom prst="rect">
            <a:avLst/>
          </a:prstGeom>
          <a:noFill/>
        </p:spPr>
        <p:txBody>
          <a:bodyPr wrap="square" rtlCol="0">
            <a:noAutofit/>
          </a:bodyPr>
          <a:p>
            <a:r>
              <a:rPr lang="en-US" altLang="en-US"/>
              <a:t>The AI Study Buddy project was successfully built and deployed as a live web application using Generative AI technology. The project has the following social impact and conclusions:</a:t>
            </a:r>
            <a:endParaRPr lang="en-US" altLang="en-US"/>
          </a:p>
          <a:p>
            <a:endParaRPr lang="en-US" altLang="en-US"/>
          </a:p>
          <a:p>
            <a:r>
              <a:rPr lang="en-US" altLang="en-US"/>
              <a:t>■ Impact on Students:</a:t>
            </a:r>
            <a:endParaRPr lang="en-US" altLang="en-US"/>
          </a:p>
          <a:p>
            <a:r>
              <a:rPr lang="en-US" altLang="en-US"/>
              <a:t>      ■ Provides 24/7 free access to AI-powered learning assistance for all students</a:t>
            </a:r>
            <a:endParaRPr lang="en-US" altLang="en-US"/>
          </a:p>
          <a:p>
            <a:r>
              <a:rPr lang="en-US" altLang="en-US"/>
              <a:t>      ■ Helps students from rural and underprivileged areas who lack access to tutors</a:t>
            </a:r>
            <a:endParaRPr lang="en-US" altLang="en-US"/>
          </a:p>
          <a:p>
            <a:r>
              <a:rPr lang="en-US" altLang="en-US"/>
              <a:t>■ Impact on Education:</a:t>
            </a:r>
            <a:endParaRPr lang="en-US" altLang="en-US"/>
          </a:p>
          <a:p>
            <a:r>
              <a:rPr lang="en-US" altLang="en-US"/>
              <a:t>      ■ Makes quality education more accessible, personalized and interactive</a:t>
            </a:r>
            <a:endParaRPr lang="en-US" altLang="en-US"/>
          </a:p>
          <a:p>
            <a:r>
              <a:rPr lang="en-US" altLang="en-US"/>
              <a:t>      ■ Reduces dependency on expensive coaching classes and tuition centers</a:t>
            </a:r>
            <a:endParaRPr lang="en-US" altLang="en-US"/>
          </a:p>
          <a:p>
            <a:r>
              <a:rPr lang="en-US" altLang="en-US"/>
              <a:t>■ Impact on Self-Learning:</a:t>
            </a:r>
            <a:endParaRPr lang="en-US" altLang="en-US"/>
          </a:p>
          <a:p>
            <a:r>
              <a:rPr lang="en-US" altLang="en-US"/>
              <a:t>      ■ Encourages independent study habits by giving instant answers and explanations</a:t>
            </a:r>
            <a:endParaRPr lang="en-US" altLang="en-US"/>
          </a:p>
          <a:p>
            <a:r>
              <a:rPr lang="en-US" altLang="en-US"/>
              <a:t>      ■ Students can revise, practice and test themselves anytime without a teacher</a:t>
            </a:r>
            <a:endParaRPr lang="en-US" altLang="en-US"/>
          </a:p>
          <a:p>
            <a:r>
              <a:rPr lang="en-US" altLang="en-US"/>
              <a:t>■ Technical Achievement:</a:t>
            </a:r>
            <a:endParaRPr lang="en-US" altLang="en-US"/>
          </a:p>
          <a:p>
            <a:r>
              <a:rPr lang="en-US" altLang="en-US"/>
              <a:t>      ■ Successfully integrated Generative AI (LLaMA 3.1) into a real-world student tool</a:t>
            </a:r>
            <a:endParaRPr lang="en-US" altLang="en-US"/>
          </a:p>
          <a:p>
            <a:r>
              <a:rPr lang="en-US" altLang="en-US"/>
              <a:t>      ■ Demonstrated practical use of Groq API, Streamlit and Python in one project</a:t>
            </a:r>
            <a:endParaRPr lang="en-US" altLang="en-US"/>
          </a:p>
          <a:p>
            <a:r>
              <a:rPr lang="en-US" altLang="en-US"/>
              <a:t>■ Overall Conclusion:</a:t>
            </a:r>
            <a:endParaRPr lang="en-US" altLang="en-US"/>
          </a:p>
          <a:p>
            <a:r>
              <a:rPr lang="en-US" altLang="en-US"/>
              <a:t>      ■ The AI Study Buddy proves that Generative AI can transform the way students learn</a:t>
            </a:r>
            <a:endParaRPr lang="en-US" altLang="en-US"/>
          </a:p>
          <a:p>
            <a:r>
              <a:rPr lang="en-US" altLang="en-US"/>
              <a:t>      ■ The project is live, functional and ready for real-world use by students globally</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panose="020B0604020202020204"/>
                <a:cs typeface="Arial" panose="020B0604020202020204"/>
              </a:rPr>
              <a:t>Future scope</a:t>
            </a:r>
            <a:endParaRPr lang="en-US" sz="4400" b="1" dirty="0">
              <a:solidFill>
                <a:schemeClr val="accent1"/>
              </a:solidFill>
              <a:latin typeface="Arial" panose="020B0604020202020204"/>
              <a:cs typeface="Arial" panose="020B0604020202020204"/>
            </a:endParaRPr>
          </a:p>
        </p:txBody>
      </p:sp>
      <p:sp>
        <p:nvSpPr>
          <p:cNvPr id="3" name="Text Box 2"/>
          <p:cNvSpPr txBox="1"/>
          <p:nvPr/>
        </p:nvSpPr>
        <p:spPr>
          <a:xfrm>
            <a:off x="474345" y="1540510"/>
            <a:ext cx="11230610" cy="3805555"/>
          </a:xfrm>
          <a:prstGeom prst="rect">
            <a:avLst/>
          </a:prstGeom>
          <a:noFill/>
        </p:spPr>
        <p:txBody>
          <a:bodyPr wrap="square" rtlCol="0">
            <a:noAutofit/>
          </a:bodyPr>
          <a:p>
            <a:r>
              <a:rPr lang="en-US" altLang="en-US"/>
              <a:t>The AI Study Buddy can be further enhanced with the following future improvements:</a:t>
            </a:r>
            <a:endParaRPr lang="en-US" altLang="en-US"/>
          </a:p>
          <a:p>
            <a:endParaRPr lang="en-US" altLang="en-US"/>
          </a:p>
          <a:p>
            <a:r>
              <a:rPr lang="en-US" altLang="en-US"/>
              <a:t>■ Voice Input:</a:t>
            </a:r>
            <a:endParaRPr lang="en-US" altLang="en-US"/>
          </a:p>
          <a:p>
            <a:r>
              <a:rPr lang="en-US" altLang="en-US"/>
              <a:t>      ■ Allow students to speak questions using speech-to-text technology</a:t>
            </a:r>
            <a:endParaRPr lang="en-US" altLang="en-US"/>
          </a:p>
          <a:p>
            <a:r>
              <a:rPr lang="en-US" altLang="en-US"/>
              <a:t>■ PDF Upload:</a:t>
            </a:r>
            <a:endParaRPr lang="en-US" altLang="en-US"/>
          </a:p>
          <a:p>
            <a:r>
              <a:rPr lang="en-US" altLang="en-US"/>
              <a:t>      ■ Upload textbook PDFs and get instant AI-generated summaries and quizzes</a:t>
            </a:r>
            <a:endParaRPr lang="en-US" altLang="en-US"/>
          </a:p>
          <a:p>
            <a:r>
              <a:rPr lang="en-US" altLang="en-US"/>
              <a:t>■ Multilingual Support:</a:t>
            </a:r>
            <a:endParaRPr lang="en-US" altLang="en-US"/>
          </a:p>
          <a:p>
            <a:r>
              <a:rPr lang="en-US" altLang="en-US"/>
              <a:t>      ■ Add Hindi and other regional Indian languages for wider accessibility</a:t>
            </a:r>
            <a:endParaRPr lang="en-US" altLang="en-US"/>
          </a:p>
          <a:p>
            <a:r>
              <a:rPr lang="en-US" altLang="en-US"/>
              <a:t>■ Progress Tracker:</a:t>
            </a:r>
            <a:endParaRPr lang="en-US" altLang="en-US"/>
          </a:p>
          <a:p>
            <a:r>
              <a:rPr lang="en-US" altLang="en-US"/>
              <a:t>      ■ Track topics studied and quiz scores to monitor student improvement</a:t>
            </a:r>
            <a:endParaRPr lang="en-US" altLang="en-US"/>
          </a:p>
          <a:p>
            <a:r>
              <a:rPr lang="en-US" altLang="en-US"/>
              <a:t>■ Personalized Learning Path:</a:t>
            </a:r>
            <a:endParaRPr lang="en-US" altLang="en-US"/>
          </a:p>
          <a:p>
            <a:r>
              <a:rPr lang="en-US" altLang="en-US"/>
              <a:t>      ■ AI recommends next topics based on student performance and weak areas</a:t>
            </a:r>
            <a:endParaRPr lang="en-US" altLang="en-US"/>
          </a:p>
          <a:p>
            <a:r>
              <a:rPr lang="en-US" altLang="en-US"/>
              <a:t>■ Mobile Application:</a:t>
            </a:r>
            <a:endParaRPr lang="en-US" altLang="en-US"/>
          </a:p>
          <a:p>
            <a:r>
              <a:rPr lang="en-US" altLang="en-US"/>
              <a:t>      ■ Convert into Android and iOS app for learning on the go</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References</a:t>
            </a:r>
            <a:endParaRPr lang="en-US"/>
          </a:p>
        </p:txBody>
      </p:sp>
      <p:sp>
        <p:nvSpPr>
          <p:cNvPr id="3" name="TextBox 2"/>
          <p:cNvSpPr txBox="1"/>
          <p:nvPr/>
        </p:nvSpPr>
        <p:spPr>
          <a:xfrm>
            <a:off x="581025" y="1419860"/>
            <a:ext cx="6096000" cy="474980"/>
          </a:xfrm>
          <a:prstGeom prst="rect">
            <a:avLst/>
          </a:prstGeom>
          <a:noFill/>
        </p:spPr>
        <p:txBody>
          <a:bodyPr wrap="square">
            <a:noAutofit/>
          </a:bodyPr>
          <a:lstStyle/>
          <a:p>
            <a:r>
              <a:rPr lang="en-US" altLang="en-US" dirty="0">
                <a:hlinkClick r:id="rId1"/>
              </a:rPr>
              <a:t>Groq API Documentation — console.groq.com</a:t>
            </a:r>
            <a:endParaRPr lang="en-US" altLang="en-US" dirty="0">
              <a:hlinkClick r:id="rId1"/>
            </a:endParaRPr>
          </a:p>
          <a:p>
            <a:endParaRPr lang="en-US" altLang="en-US" dirty="0">
              <a:hlinkClick r:id="rId1"/>
            </a:endParaRPr>
          </a:p>
          <a:p>
            <a:r>
              <a:rPr lang="en-US" altLang="en-US" dirty="0">
                <a:hlinkClick r:id="rId1"/>
              </a:rPr>
              <a:t>Streamlit Documentation — docs.streamlit.io</a:t>
            </a:r>
            <a:endParaRPr lang="en-US" altLang="en-US" dirty="0">
              <a:hlinkClick r:id="rId1"/>
            </a:endParaRPr>
          </a:p>
          <a:p>
            <a:endParaRPr lang="en-US" altLang="en-US" dirty="0">
              <a:hlinkClick r:id="rId1"/>
            </a:endParaRPr>
          </a:p>
          <a:p>
            <a:r>
              <a:rPr lang="en-US" altLang="en-US" dirty="0">
                <a:hlinkClick r:id="rId1"/>
              </a:rPr>
              <a:t>Meta LLaMA 3.1 Model — ai.meta.com/llama</a:t>
            </a:r>
            <a:endParaRPr lang="en-US" altLang="en-US" dirty="0">
              <a:hlinkClick r:id="rId1"/>
            </a:endParaRPr>
          </a:p>
          <a:p>
            <a:endParaRPr lang="en-US" altLang="en-US" dirty="0">
              <a:hlinkClick r:id="rId1"/>
            </a:endParaRPr>
          </a:p>
          <a:p>
            <a:r>
              <a:rPr lang="en-US" altLang="en-US" dirty="0">
                <a:hlinkClick r:id="rId1"/>
              </a:rPr>
              <a:t>Welcome to Python.org — python.org</a:t>
            </a:r>
            <a:endParaRPr lang="en-US" altLang="en-US" dirty="0">
              <a:hlinkClick r:id="rId1"/>
            </a:endParaRPr>
          </a:p>
          <a:p>
            <a:endParaRPr lang="en-US" altLang="en-US" dirty="0">
              <a:hlinkClick r:id="rId1"/>
            </a:endParaRPr>
          </a:p>
          <a:p>
            <a:r>
              <a:rPr lang="en-US" altLang="en-US" dirty="0">
                <a:hlinkClick r:id="rId1"/>
              </a:rPr>
              <a:t>Google Colab — colab.research.google.com</a:t>
            </a:r>
            <a:endParaRPr lang="en-US" altLang="en-US" dirty="0">
              <a:hlinkClick r:id="rId1"/>
            </a:endParaRPr>
          </a:p>
          <a:p>
            <a:endParaRPr lang="en-US" altLang="en-US" dirty="0">
              <a:hlinkClick r:id="rId1"/>
            </a:endParaRPr>
          </a:p>
          <a:p>
            <a:r>
              <a:rPr lang="en-US" altLang="en-US" dirty="0">
                <a:hlinkClick r:id="rId1"/>
              </a:rPr>
              <a:t>EduNet IBM SkillsBuild — edunetworld.com</a:t>
            </a:r>
            <a:endParaRPr lang="en-US" altLang="en-US" dirty="0">
              <a:hlinkClick r:id="rId1"/>
            </a:endParaRPr>
          </a:p>
          <a:p>
            <a:endParaRPr lang="en-US" altLang="en-US" dirty="0">
              <a:hlinkClick r:id="rId1"/>
            </a:endParaRPr>
          </a:p>
          <a:p>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Github</a:t>
            </a:r>
            <a:r>
              <a:rPr lang="en-US" dirty="0"/>
              <a:t> link</a:t>
            </a:r>
            <a:endParaRPr lang="en-IN" dirty="0"/>
          </a:p>
        </p:txBody>
      </p:sp>
      <p:sp>
        <p:nvSpPr>
          <p:cNvPr id="3" name="Content Placeholder 2"/>
          <p:cNvSpPr>
            <a:spLocks noGrp="1"/>
          </p:cNvSpPr>
          <p:nvPr>
            <p:ph idx="1"/>
          </p:nvPr>
        </p:nvSpPr>
        <p:spPr>
          <a:xfrm>
            <a:off x="581025" y="1301750"/>
            <a:ext cx="11029315" cy="3428365"/>
          </a:xfrm>
        </p:spPr>
        <p:txBody>
          <a:bodyPr/>
          <a:lstStyle/>
          <a:p>
            <a:r>
              <a:rPr lang="en-US" altLang="en-US" dirty="0"/>
              <a:t>Github Link : https://github.com/jasmeetkaur06/AICTE-BATCH-1-AI-STUDY-BUDDY-</a:t>
            </a:r>
            <a:endParaRPr lang="en-US" altLang="en-US" dirty="0"/>
          </a:p>
          <a:p>
            <a:r>
              <a:rPr lang="en-US" altLang="en-US" dirty="0"/>
              <a:t>Deployment Link: https://ai-study-buddy-aicte.streamlit.app/</a:t>
            </a:r>
            <a:endParaRPr lang="en-US" altLang="en-US" dirty="0"/>
          </a:p>
          <a:p>
            <a:r>
              <a:rPr lang="en-US" altLang="en-US" dirty="0"/>
              <a:t> No API key required — app works directly for all users</a:t>
            </a: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endParaRPr lang="en-US" b="1">
              <a:solidFill>
                <a:srgbClr val="002060"/>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datastoreItem>
</file>

<file path=customXml/itemProps2.xml><?xml version="1.0" encoding="utf-8"?>
<ds:datastoreItem xmlns:ds="http://schemas.openxmlformats.org/officeDocument/2006/customXml" ds:itemID="{927BD4C1-B6B1-4715-ABF9-E660A51A4EA0}">
  <ds:schemaRefs/>
</ds:datastoreItem>
</file>

<file path=customXml/itemProps3.xml><?xml version="1.0" encoding="utf-8"?>
<ds:datastoreItem xmlns:ds="http://schemas.openxmlformats.org/officeDocument/2006/customXml" ds:itemID="{6E816721-11E4-4989-8472-AB5A7EC20404}">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6857</Words>
  <Application>WPS Presentation</Application>
  <PresentationFormat>Widescreen</PresentationFormat>
  <Paragraphs>169</Paragraphs>
  <Slides>13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Wingdings 2</vt:lpstr>
      <vt:lpstr>Arial</vt:lpstr>
      <vt:lpstr>Calibri</vt:lpstr>
      <vt:lpstr>Calibri Light</vt:lpstr>
      <vt:lpstr>Microsoft YaHei</vt:lpstr>
      <vt:lpstr>Arial Unicode MS</vt:lpstr>
      <vt:lpstr>Franklin Gothic Demi</vt:lpstr>
      <vt:lpstr>Franklin Gothic Book</vt:lpstr>
      <vt:lpstr>DividendVTI</vt:lpstr>
      <vt:lpstr>Project title</vt:lpstr>
      <vt:lpstr>OUTLINE</vt:lpstr>
      <vt:lpstr>Problem Statement</vt:lpstr>
      <vt:lpstr>Proposed Solution</vt:lpstr>
      <vt:lpstr>System  Approach</vt:lpstr>
      <vt:lpstr>Algorithm &amp; Deployment</vt:lpstr>
      <vt:lpstr>Result</vt:lpstr>
      <vt:lpstr>PowerPoint 演示文稿</vt:lpstr>
      <vt:lpstr>Conclusion</vt:lpstr>
      <vt:lpstr>PowerPoint 演示文稿</vt:lpstr>
      <vt:lpstr>References</vt:lpstr>
      <vt:lpstr>Github link</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Jasmeet Kaur</cp:lastModifiedBy>
  <cp:revision>38</cp:revision>
  <dcterms:created xsi:type="dcterms:W3CDTF">2021-05-26T16:50:00Z</dcterms:created>
  <dcterms:modified xsi:type="dcterms:W3CDTF">2026-06-16T10:48:56Z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KSOProductBuildVer">
    <vt:lpwstr>1033-12.1.0.26880</vt:lpwstr>
  </property>
  <property fmtid="{D5CDD505-2E9C-101B-9397-08002B2CF9AE}" pid="4" name="ICV">
    <vt:lpwstr>515A38697D494A778A50F993FA6130F1_13</vt:lpwstr>
  </property>
</Properties>
</file>